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A50E90-B844-4238-A971-CF4EF9BA0C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652C44-DF10-45CE-98E6-052A29A286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00263-2035-4018-B77F-C5FFB039B1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A1727-7B1B-42C0-AFFE-DF5F76EEE2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B18F14-23CD-440C-8AC5-E09FBAC4B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F7EF8-5FA5-4AEC-8899-B5285520A4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BFD0BF-3FE2-4036-A9BF-1A8CE71003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BC9BC2-67AF-453D-A137-5FB8CBDC2E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10E316-B151-4E6C-BC96-7DC7B3A58D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6A2C63-61DB-46A5-90AE-D54196E1D8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BAB8F-FC01-456A-8A79-267947CD3F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1FDB8-07BF-4560-839F-4715171C94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DADFF36-F0B9-41D6-B1BF-9AFF346B99A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86000" y="295200"/>
            <a:ext cx="3240000" cy="44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개발현황 리포트 </a:t>
            </a:r>
            <a:r>
              <a:rPr b="1" lang="en-US" sz="2400" spc="-1" strike="noStrike">
                <a:solidFill>
                  <a:srgbClr val="101010"/>
                </a:solidFill>
                <a:latin typeface="Noto Sans CJK KR"/>
              </a:rPr>
              <a:t>-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726000" y="295200"/>
            <a:ext cx="5400000" cy="44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01010"/>
                </a:solidFill>
                <a:latin typeface="Noto Sans CJK KR"/>
              </a:rPr>
              <a:t>Planner </a:t>
            </a:r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알고리즘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86000" y="712800"/>
            <a:ext cx="648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246bfd"/>
                </a:solidFill>
                <a:latin typeface="Noto Sans CJK KR"/>
              </a:rPr>
              <a:t>1. Planner </a:t>
            </a:r>
            <a:r>
              <a:rPr b="0" lang="zh-CN" sz="1400" spc="-1" strike="noStrike">
                <a:solidFill>
                  <a:srgbClr val="246bfd"/>
                </a:solidFill>
                <a:latin typeface="Noto Sans CJK KR"/>
              </a:rPr>
              <a:t>개발 현황</a:t>
            </a:r>
            <a:endParaRPr b="0" lang="en-US" sz="1400" spc="-1" strike="noStrike">
              <a:solidFill>
                <a:srgbClr val="246bfd"/>
              </a:solidFill>
              <a:latin typeface="Noto Sans CJK KR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86000" y="1101600"/>
            <a:ext cx="432000" cy="276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01010"/>
                </a:solidFill>
                <a:latin typeface="Noto Sans CJK KR"/>
              </a:rPr>
              <a:t>I.</a:t>
            </a:r>
            <a:endParaRPr b="1" lang="en-US" sz="15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332000" y="352800"/>
            <a:ext cx="738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101010"/>
                </a:solidFill>
                <a:latin typeface="Noto Sans CJK KR"/>
              </a:rPr>
              <a:t>MOR</a:t>
            </a:r>
            <a:endParaRPr b="1" lang="en-US" sz="20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034000" y="352800"/>
            <a:ext cx="504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4c7eff"/>
                </a:solidFill>
                <a:latin typeface="Noto Sans CJK KR"/>
              </a:rPr>
              <a:t>AI</a:t>
            </a:r>
            <a:endParaRPr b="1" lang="en-US" sz="2000" spc="-1" strike="noStrike">
              <a:solidFill>
                <a:srgbClr val="4c7eff"/>
              </a:solidFill>
              <a:latin typeface="Noto Sans CJK KR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82000" y="1065600"/>
            <a:ext cx="288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101010"/>
                </a:solidFill>
                <a:latin typeface="Noto Sans CJK KR"/>
              </a:rPr>
              <a:t>Planner </a:t>
            </a:r>
            <a:r>
              <a:rPr b="1" lang="zh-CN" sz="1700" spc="-1" strike="noStrike">
                <a:solidFill>
                  <a:srgbClr val="101010"/>
                </a:solidFill>
                <a:latin typeface="Noto Sans CJK KR"/>
              </a:rPr>
              <a:t>알고리즘</a:t>
            </a:r>
            <a:endParaRPr b="1" lang="en-US" sz="17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50" name=""/>
          <p:cNvSpPr/>
          <p:nvPr/>
        </p:nvSpPr>
        <p:spPr>
          <a:xfrm>
            <a:off x="576000" y="1620000"/>
            <a:ext cx="3312000" cy="2160000"/>
          </a:xfrm>
          <a:prstGeom prst="roundRect">
            <a:avLst/>
          </a:prstGeom>
          <a:solidFill>
            <a:srgbClr val="f1f7fc"/>
          </a:solidFill>
          <a:ln w="19800">
            <a:solidFill>
              <a:srgbClr val="1879bd"/>
            </a:solidFill>
            <a:round/>
          </a:ln>
        </p:spPr>
      </p:sp>
      <p:sp>
        <p:nvSpPr>
          <p:cNvPr id="51" name=""/>
          <p:cNvSpPr/>
          <p:nvPr/>
        </p:nvSpPr>
        <p:spPr>
          <a:xfrm>
            <a:off x="482400" y="1620000"/>
            <a:ext cx="75600" cy="2160000"/>
          </a:xfrm>
          <a:prstGeom prst="rect">
            <a:avLst/>
          </a:prstGeom>
          <a:solidFill>
            <a:srgbClr val="1879bd"/>
          </a:solidFill>
          <a:ln w="0">
            <a:noFill/>
          </a:ln>
        </p:spPr>
      </p:sp>
      <p:sp>
        <p:nvSpPr>
          <p:cNvPr id="52" name=""/>
          <p:cNvSpPr txBox="1"/>
          <p:nvPr/>
        </p:nvSpPr>
        <p:spPr>
          <a:xfrm>
            <a:off x="705600" y="1717200"/>
            <a:ext cx="3052800" cy="28548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50" spc="-1" strike="noStrike">
                <a:solidFill>
                  <a:srgbClr val="1879bd"/>
                </a:solidFill>
                <a:latin typeface="Noto Sans CJK KR"/>
              </a:rPr>
              <a:t>Behavior Path Planner</a:t>
            </a:r>
            <a:endParaRPr b="1" lang="en-US" sz="1550" spc="-1" strike="noStrike">
              <a:solidFill>
                <a:srgbClr val="1879bd"/>
              </a:solidFill>
              <a:latin typeface="Noto Sans CJK KR"/>
            </a:endParaRPr>
          </a:p>
        </p:txBody>
      </p:sp>
      <p:sp>
        <p:nvSpPr>
          <p:cNvPr id="53" name=""/>
          <p:cNvSpPr/>
          <p:nvPr/>
        </p:nvSpPr>
        <p:spPr>
          <a:xfrm>
            <a:off x="720000" y="2066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54" name=""/>
          <p:cNvSpPr txBox="1"/>
          <p:nvPr/>
        </p:nvSpPr>
        <p:spPr>
          <a:xfrm>
            <a:off x="784800" y="1998000"/>
            <a:ext cx="29664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Lanelet2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기반 차선 추종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720000" y="23112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56" name=""/>
          <p:cNvSpPr txBox="1"/>
          <p:nvPr/>
        </p:nvSpPr>
        <p:spPr>
          <a:xfrm>
            <a:off x="784800" y="2242800"/>
            <a:ext cx="29664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Route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기반 차선변경 후보 생성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57" name=""/>
          <p:cNvSpPr/>
          <p:nvPr/>
        </p:nvSpPr>
        <p:spPr>
          <a:xfrm>
            <a:off x="720000" y="25560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58" name=""/>
          <p:cNvSpPr txBox="1"/>
          <p:nvPr/>
        </p:nvSpPr>
        <p:spPr>
          <a:xfrm>
            <a:off x="784800" y="2487600"/>
            <a:ext cx="29664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정적 장애물 회피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차선 복귀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59" name=""/>
          <p:cNvSpPr/>
          <p:nvPr/>
        </p:nvSpPr>
        <p:spPr>
          <a:xfrm>
            <a:off x="720000" y="28008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60" name=""/>
          <p:cNvSpPr txBox="1"/>
          <p:nvPr/>
        </p:nvSpPr>
        <p:spPr>
          <a:xfrm>
            <a:off x="784800" y="2732400"/>
            <a:ext cx="29664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동적 장애물 주행영역 제어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7200" y="3574800"/>
            <a:ext cx="3038400" cy="1926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26b78"/>
                </a:solidFill>
                <a:latin typeface="Noto Sans CJK KR"/>
              </a:rPr>
              <a:t>Output  |  PathWithLaneId</a:t>
            </a:r>
            <a:endParaRPr b="0" lang="en-US" sz="105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62" name=""/>
          <p:cNvSpPr/>
          <p:nvPr/>
        </p:nvSpPr>
        <p:spPr>
          <a:xfrm>
            <a:off x="4464000" y="1620000"/>
            <a:ext cx="3312000" cy="2160000"/>
          </a:xfrm>
          <a:prstGeom prst="roundRect">
            <a:avLst/>
          </a:prstGeom>
          <a:solidFill>
            <a:srgbClr val="f2faf6"/>
          </a:solidFill>
          <a:ln w="19800">
            <a:solidFill>
              <a:srgbClr val="15955c"/>
            </a:solidFill>
            <a:round/>
          </a:ln>
        </p:spPr>
      </p:sp>
      <p:sp>
        <p:nvSpPr>
          <p:cNvPr id="63" name=""/>
          <p:cNvSpPr/>
          <p:nvPr/>
        </p:nvSpPr>
        <p:spPr>
          <a:xfrm>
            <a:off x="4370400" y="1620000"/>
            <a:ext cx="75600" cy="2160000"/>
          </a:xfrm>
          <a:prstGeom prst="rect">
            <a:avLst/>
          </a:prstGeom>
          <a:solidFill>
            <a:srgbClr val="15955c"/>
          </a:solidFill>
          <a:ln w="0">
            <a:noFill/>
          </a:ln>
        </p:spPr>
      </p:sp>
      <p:sp>
        <p:nvSpPr>
          <p:cNvPr id="64" name=""/>
          <p:cNvSpPr txBox="1"/>
          <p:nvPr/>
        </p:nvSpPr>
        <p:spPr>
          <a:xfrm>
            <a:off x="4593600" y="1717200"/>
            <a:ext cx="3052800" cy="28548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50" spc="-1" strike="noStrike">
                <a:solidFill>
                  <a:srgbClr val="15955c"/>
                </a:solidFill>
                <a:latin typeface="Noto Sans CJK KR"/>
              </a:rPr>
              <a:t>Behavior Velocity Planner</a:t>
            </a:r>
            <a:endParaRPr b="1" lang="en-US" sz="1550" spc="-1" strike="noStrike">
              <a:solidFill>
                <a:srgbClr val="15955c"/>
              </a:solidFill>
              <a:latin typeface="Noto Sans CJK KR"/>
            </a:endParaRPr>
          </a:p>
        </p:txBody>
      </p:sp>
      <p:sp>
        <p:nvSpPr>
          <p:cNvPr id="65" name=""/>
          <p:cNvSpPr/>
          <p:nvPr/>
        </p:nvSpPr>
        <p:spPr>
          <a:xfrm>
            <a:off x="4608000" y="2066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66" name=""/>
          <p:cNvSpPr txBox="1"/>
          <p:nvPr/>
        </p:nvSpPr>
        <p:spPr>
          <a:xfrm>
            <a:off x="4672800" y="1998000"/>
            <a:ext cx="29664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신호등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정지선 정지 계획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67" name=""/>
          <p:cNvSpPr/>
          <p:nvPr/>
        </p:nvSpPr>
        <p:spPr>
          <a:xfrm>
            <a:off x="4608000" y="23112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68" name=""/>
          <p:cNvSpPr txBox="1"/>
          <p:nvPr/>
        </p:nvSpPr>
        <p:spPr>
          <a:xfrm>
            <a:off x="4672800" y="2242800"/>
            <a:ext cx="29664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횡단보도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보행자 양보 판단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69" name=""/>
          <p:cNvSpPr/>
          <p:nvPr/>
        </p:nvSpPr>
        <p:spPr>
          <a:xfrm>
            <a:off x="4608000" y="25560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70" name=""/>
          <p:cNvSpPr txBox="1"/>
          <p:nvPr/>
        </p:nvSpPr>
        <p:spPr>
          <a:xfrm>
            <a:off x="4672800" y="2487600"/>
            <a:ext cx="2966400" cy="66204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교차로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블라인드스팟 안전 판단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71" name=""/>
          <p:cNvSpPr/>
          <p:nvPr/>
        </p:nvSpPr>
        <p:spPr>
          <a:xfrm>
            <a:off x="4608000" y="28008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72" name=""/>
          <p:cNvSpPr txBox="1"/>
          <p:nvPr/>
        </p:nvSpPr>
        <p:spPr>
          <a:xfrm>
            <a:off x="4672800" y="2732400"/>
            <a:ext cx="29664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과속방지턱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제한구역 감속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615200" y="3574800"/>
            <a:ext cx="3038400" cy="1926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26b78"/>
                </a:solidFill>
                <a:latin typeface="Noto Sans CJK KR"/>
              </a:rPr>
              <a:t>Output  |  Velocity-modified Path</a:t>
            </a:r>
            <a:endParaRPr b="0" lang="en-US" sz="105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8352000" y="1620000"/>
            <a:ext cx="3312000" cy="2160000"/>
          </a:xfrm>
          <a:prstGeom prst="roundRect">
            <a:avLst/>
          </a:prstGeom>
          <a:solidFill>
            <a:srgbClr val="f7f3fc"/>
          </a:solidFill>
          <a:ln w="19800">
            <a:solidFill>
              <a:srgbClr val="7951b3"/>
            </a:solidFill>
            <a:round/>
          </a:ln>
        </p:spPr>
      </p:sp>
      <p:sp>
        <p:nvSpPr>
          <p:cNvPr id="75" name=""/>
          <p:cNvSpPr/>
          <p:nvPr/>
        </p:nvSpPr>
        <p:spPr>
          <a:xfrm>
            <a:off x="8258400" y="1620000"/>
            <a:ext cx="75600" cy="2160000"/>
          </a:xfrm>
          <a:prstGeom prst="rect">
            <a:avLst/>
          </a:prstGeom>
          <a:solidFill>
            <a:srgbClr val="7951b3"/>
          </a:solidFill>
          <a:ln w="0">
            <a:noFill/>
          </a:ln>
        </p:spPr>
      </p:sp>
      <p:sp>
        <p:nvSpPr>
          <p:cNvPr id="76" name=""/>
          <p:cNvSpPr txBox="1"/>
          <p:nvPr/>
        </p:nvSpPr>
        <p:spPr>
          <a:xfrm>
            <a:off x="8481600" y="1717200"/>
            <a:ext cx="3052800" cy="28548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50" spc="-1" strike="noStrike">
                <a:solidFill>
                  <a:srgbClr val="7951b3"/>
                </a:solidFill>
                <a:latin typeface="Noto Sans CJK KR"/>
              </a:rPr>
              <a:t>Motion Velocity Planner</a:t>
            </a:r>
            <a:endParaRPr b="1" lang="en-US" sz="1550" spc="-1" strike="noStrike">
              <a:solidFill>
                <a:srgbClr val="7951b3"/>
              </a:solidFill>
              <a:latin typeface="Noto Sans CJK KR"/>
            </a:endParaRPr>
          </a:p>
        </p:txBody>
      </p:sp>
      <p:sp>
        <p:nvSpPr>
          <p:cNvPr id="77" name=""/>
          <p:cNvSpPr/>
          <p:nvPr/>
        </p:nvSpPr>
        <p:spPr>
          <a:xfrm>
            <a:off x="8496000" y="2066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78" name=""/>
          <p:cNvSpPr txBox="1"/>
          <p:nvPr/>
        </p:nvSpPr>
        <p:spPr>
          <a:xfrm>
            <a:off x="8560800" y="1998000"/>
            <a:ext cx="29664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Trajectory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기반 최종 속도 계획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79" name=""/>
          <p:cNvSpPr/>
          <p:nvPr/>
        </p:nvSpPr>
        <p:spPr>
          <a:xfrm>
            <a:off x="8496000" y="23112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80" name=""/>
          <p:cNvSpPr txBox="1"/>
          <p:nvPr/>
        </p:nvSpPr>
        <p:spPr>
          <a:xfrm>
            <a:off x="8560800" y="2242800"/>
            <a:ext cx="29664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정적 장애물 안전 정지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81" name=""/>
          <p:cNvSpPr/>
          <p:nvPr/>
        </p:nvSpPr>
        <p:spPr>
          <a:xfrm>
            <a:off x="8496000" y="25560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82" name=""/>
          <p:cNvSpPr txBox="1"/>
          <p:nvPr/>
        </p:nvSpPr>
        <p:spPr>
          <a:xfrm>
            <a:off x="8560800" y="2487600"/>
            <a:ext cx="29664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동적 장애물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TTC·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예측경로 대응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83" name=""/>
          <p:cNvSpPr/>
          <p:nvPr/>
        </p:nvSpPr>
        <p:spPr>
          <a:xfrm>
            <a:off x="8496000" y="28008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8560800" y="2732400"/>
            <a:ext cx="29664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선행차 추종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·jerk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제한 감속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503200" y="3574800"/>
            <a:ext cx="3038400" cy="1926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26b78"/>
                </a:solidFill>
                <a:latin typeface="Noto Sans CJK KR"/>
              </a:rPr>
              <a:t>Output  |  Safe Trajectory</a:t>
            </a:r>
            <a:endParaRPr b="0" lang="en-US" sz="105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902400" y="2394000"/>
            <a:ext cx="450000" cy="535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900" spc="-1" strike="noStrike">
                <a:solidFill>
                  <a:srgbClr val="626b78"/>
                </a:solidFill>
                <a:latin typeface="Noto Sans CJK KR"/>
              </a:rPr>
              <a:t>→</a:t>
            </a:r>
            <a:endParaRPr b="1" lang="en-US" sz="290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790400" y="2394000"/>
            <a:ext cx="450000" cy="535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900" spc="-1" strike="noStrike">
                <a:solidFill>
                  <a:srgbClr val="626b78"/>
                </a:solidFill>
                <a:latin typeface="Noto Sans CJK KR"/>
              </a:rPr>
              <a:t>→</a:t>
            </a:r>
            <a:endParaRPr b="1" lang="en-US" sz="290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1628000" y="6328800"/>
            <a:ext cx="162000" cy="166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00" spc="-1" strike="noStrike">
                <a:solidFill>
                  <a:srgbClr val="626b78"/>
                </a:solidFill>
                <a:latin typeface="Noto Sans CJK KR"/>
              </a:rPr>
              <a:t>1</a:t>
            </a:r>
            <a:endParaRPr b="0" lang="en-US" sz="900" spc="-1" strike="noStrike">
              <a:solidFill>
                <a:srgbClr val="626b78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486000" y="295200"/>
            <a:ext cx="3240000" cy="44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개발현황 리포트 </a:t>
            </a:r>
            <a:r>
              <a:rPr b="1" lang="en-US" sz="2400" spc="-1" strike="noStrike">
                <a:solidFill>
                  <a:srgbClr val="101010"/>
                </a:solidFill>
                <a:latin typeface="Noto Sans CJK KR"/>
              </a:rPr>
              <a:t>-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726000" y="295200"/>
            <a:ext cx="5400000" cy="34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개발 이슈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86000" y="712800"/>
            <a:ext cx="648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246bfd"/>
                </a:solidFill>
                <a:latin typeface="Noto Sans CJK KR"/>
              </a:rPr>
              <a:t>2. </a:t>
            </a:r>
            <a:r>
              <a:rPr b="0" lang="zh-CN" sz="1400" spc="-1" strike="noStrike">
                <a:solidFill>
                  <a:srgbClr val="246bfd"/>
                </a:solidFill>
                <a:latin typeface="Noto Sans CJK KR"/>
              </a:rPr>
              <a:t>개발 이슈</a:t>
            </a:r>
            <a:endParaRPr b="0" lang="en-US" sz="1400" spc="-1" strike="noStrike">
              <a:solidFill>
                <a:srgbClr val="246bfd"/>
              </a:solidFill>
              <a:latin typeface="Noto Sans CJK K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86000" y="1101600"/>
            <a:ext cx="432000" cy="276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01010"/>
                </a:solidFill>
                <a:latin typeface="Noto Sans CJK KR"/>
              </a:rPr>
              <a:t>II.</a:t>
            </a:r>
            <a:endParaRPr b="1" lang="en-US" sz="15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332000" y="352800"/>
            <a:ext cx="738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101010"/>
                </a:solidFill>
                <a:latin typeface="Noto Sans CJK KR"/>
              </a:rPr>
              <a:t>MOR</a:t>
            </a:r>
            <a:endParaRPr b="1" lang="en-US" sz="20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034000" y="352800"/>
            <a:ext cx="504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4c7eff"/>
                </a:solidFill>
                <a:latin typeface="Noto Sans CJK KR"/>
              </a:rPr>
              <a:t>AI</a:t>
            </a:r>
            <a:endParaRPr b="1" lang="en-US" sz="2000" spc="-1" strike="noStrike">
              <a:solidFill>
                <a:srgbClr val="4c7eff"/>
              </a:solidFill>
              <a:latin typeface="Noto Sans CJK KR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82000" y="1065600"/>
            <a:ext cx="288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700" spc="-1" strike="noStrike">
                <a:solidFill>
                  <a:srgbClr val="101010"/>
                </a:solidFill>
                <a:latin typeface="Noto Sans CJK KR"/>
              </a:rPr>
              <a:t>주요 이슈 및 대응</a:t>
            </a:r>
            <a:endParaRPr b="1" lang="en-US" sz="17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96" name=""/>
          <p:cNvSpPr/>
          <p:nvPr/>
        </p:nvSpPr>
        <p:spPr>
          <a:xfrm>
            <a:off x="576000" y="1620000"/>
            <a:ext cx="3312000" cy="2196000"/>
          </a:xfrm>
          <a:prstGeom prst="roundRect">
            <a:avLst/>
          </a:prstGeom>
          <a:solidFill>
            <a:srgbClr val="fff8ec"/>
          </a:solidFill>
          <a:ln w="19800">
            <a:solidFill>
              <a:srgbClr val="d78220"/>
            </a:solidFill>
            <a:round/>
          </a:ln>
        </p:spPr>
      </p:sp>
      <p:sp>
        <p:nvSpPr>
          <p:cNvPr id="97" name=""/>
          <p:cNvSpPr/>
          <p:nvPr/>
        </p:nvSpPr>
        <p:spPr>
          <a:xfrm>
            <a:off x="482400" y="1620000"/>
            <a:ext cx="75600" cy="2196000"/>
          </a:xfrm>
          <a:prstGeom prst="rect">
            <a:avLst/>
          </a:prstGeom>
          <a:solidFill>
            <a:srgbClr val="d78220"/>
          </a:solidFill>
          <a:ln w="0">
            <a:noFill/>
          </a:ln>
        </p:spPr>
      </p:sp>
      <p:sp>
        <p:nvSpPr>
          <p:cNvPr id="98" name=""/>
          <p:cNvSpPr txBox="1"/>
          <p:nvPr/>
        </p:nvSpPr>
        <p:spPr>
          <a:xfrm>
            <a:off x="684000" y="1717200"/>
            <a:ext cx="3096000" cy="331200"/>
          </a:xfrm>
          <a:prstGeom prst="rect">
            <a:avLst/>
          </a:prstGeom>
          <a:solidFill>
            <a:srgbClr val="ff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d78220"/>
                </a:solidFill>
                <a:latin typeface="Noto Sans CJK KR"/>
              </a:rPr>
              <a:t>Map · Route </a:t>
            </a:r>
            <a:r>
              <a:rPr b="1" lang="zh-CN" sz="1650" spc="-1" strike="noStrike">
                <a:solidFill>
                  <a:srgbClr val="d78220"/>
                </a:solidFill>
                <a:latin typeface="Noto Sans CJK KR"/>
              </a:rPr>
              <a:t>정합성</a:t>
            </a:r>
            <a:endParaRPr b="1" lang="en-US" sz="1650" spc="-1" strike="noStrike">
              <a:solidFill>
                <a:srgbClr val="d78220"/>
              </a:solidFill>
              <a:latin typeface="Noto Sans CJK KR"/>
            </a:endParaRPr>
          </a:p>
        </p:txBody>
      </p:sp>
      <p:sp>
        <p:nvSpPr>
          <p:cNvPr id="99" name=""/>
          <p:cNvSpPr/>
          <p:nvPr/>
        </p:nvSpPr>
        <p:spPr>
          <a:xfrm>
            <a:off x="727200" y="2163600"/>
            <a:ext cx="36000" cy="36000"/>
          </a:xfrm>
          <a:prstGeom prst="ellipse">
            <a:avLst/>
          </a:prstGeom>
          <a:solidFill>
            <a:srgbClr val="d78220"/>
          </a:solidFill>
          <a:ln w="0">
            <a:noFill/>
          </a:ln>
        </p:spPr>
      </p:sp>
      <p:sp>
        <p:nvSpPr>
          <p:cNvPr id="100" name=""/>
          <p:cNvSpPr txBox="1"/>
          <p:nvPr/>
        </p:nvSpPr>
        <p:spPr>
          <a:xfrm>
            <a:off x="799200" y="2102400"/>
            <a:ext cx="2944800" cy="662040"/>
          </a:xfrm>
          <a:prstGeom prst="rect">
            <a:avLst/>
          </a:prstGeom>
          <a:solidFill>
            <a:srgbClr val="ff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차선 경계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고도 차이 →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false collision /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차선변경 오차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01" name=""/>
          <p:cNvSpPr/>
          <p:nvPr/>
        </p:nvSpPr>
        <p:spPr>
          <a:xfrm>
            <a:off x="712800" y="2664000"/>
            <a:ext cx="3038400" cy="9360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02" name=""/>
          <p:cNvSpPr txBox="1"/>
          <p:nvPr/>
        </p:nvSpPr>
        <p:spPr>
          <a:xfrm>
            <a:off x="712800" y="2786400"/>
            <a:ext cx="100800" cy="276120"/>
          </a:xfrm>
          <a:prstGeom prst="rect">
            <a:avLst/>
          </a:prstGeom>
          <a:solidFill>
            <a:srgbClr val="ff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d78220"/>
                </a:solidFill>
                <a:latin typeface="Noto Sans CJK KR"/>
              </a:rPr>
              <a:t>→</a:t>
            </a:r>
            <a:endParaRPr b="1" lang="en-US" sz="1500" spc="-1" strike="noStrike">
              <a:solidFill>
                <a:srgbClr val="d78220"/>
              </a:solidFill>
              <a:latin typeface="Noto Sans CJK KR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28000" y="2757600"/>
            <a:ext cx="2923200" cy="662040"/>
          </a:xfrm>
          <a:prstGeom prst="rect">
            <a:avLst/>
          </a:prstGeom>
          <a:solidFill>
            <a:srgbClr val="ff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K-City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경계 보정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+ Route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기반 후보 경로 생성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04" name=""/>
          <p:cNvSpPr/>
          <p:nvPr/>
        </p:nvSpPr>
        <p:spPr>
          <a:xfrm>
            <a:off x="4464000" y="1620000"/>
            <a:ext cx="3312000" cy="2196000"/>
          </a:xfrm>
          <a:prstGeom prst="roundRect">
            <a:avLst/>
          </a:prstGeom>
          <a:solidFill>
            <a:srgbClr val="fff4f2"/>
          </a:solidFill>
          <a:ln w="19800">
            <a:solidFill>
              <a:srgbClr val="d94b43"/>
            </a:solidFill>
            <a:round/>
          </a:ln>
        </p:spPr>
      </p:sp>
      <p:sp>
        <p:nvSpPr>
          <p:cNvPr id="105" name=""/>
          <p:cNvSpPr/>
          <p:nvPr/>
        </p:nvSpPr>
        <p:spPr>
          <a:xfrm>
            <a:off x="4370400" y="1620000"/>
            <a:ext cx="75600" cy="2196000"/>
          </a:xfrm>
          <a:prstGeom prst="rect">
            <a:avLst/>
          </a:prstGeom>
          <a:solidFill>
            <a:srgbClr val="d94b43"/>
          </a:solidFill>
          <a:ln w="0">
            <a:noFill/>
          </a:ln>
        </p:spPr>
      </p:sp>
      <p:sp>
        <p:nvSpPr>
          <p:cNvPr id="106" name=""/>
          <p:cNvSpPr txBox="1"/>
          <p:nvPr/>
        </p:nvSpPr>
        <p:spPr>
          <a:xfrm>
            <a:off x="4572000" y="1717200"/>
            <a:ext cx="3096000" cy="331200"/>
          </a:xfrm>
          <a:prstGeom prst="rect">
            <a:avLst/>
          </a:prstGeom>
          <a:solidFill>
            <a:srgbClr val="fff4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zh-CN" sz="1650" spc="-1" strike="noStrike">
                <a:solidFill>
                  <a:srgbClr val="d94b43"/>
                </a:solidFill>
                <a:latin typeface="Noto Sans CJK KR"/>
              </a:rPr>
              <a:t>장애물 회피 안정성</a:t>
            </a:r>
            <a:endParaRPr b="1" lang="en-US" sz="1650" spc="-1" strike="noStrike">
              <a:solidFill>
                <a:srgbClr val="d94b43"/>
              </a:solidFill>
              <a:latin typeface="Noto Sans CJK KR"/>
            </a:endParaRPr>
          </a:p>
        </p:txBody>
      </p:sp>
      <p:sp>
        <p:nvSpPr>
          <p:cNvPr id="107" name=""/>
          <p:cNvSpPr/>
          <p:nvPr/>
        </p:nvSpPr>
        <p:spPr>
          <a:xfrm>
            <a:off x="4615200" y="2163600"/>
            <a:ext cx="36000" cy="36000"/>
          </a:xfrm>
          <a:prstGeom prst="ellipse">
            <a:avLst/>
          </a:prstGeom>
          <a:solidFill>
            <a:srgbClr val="d94b43"/>
          </a:solidFill>
          <a:ln w="0">
            <a:noFill/>
          </a:ln>
        </p:spPr>
      </p:sp>
      <p:sp>
        <p:nvSpPr>
          <p:cNvPr id="108" name=""/>
          <p:cNvSpPr txBox="1"/>
          <p:nvPr/>
        </p:nvSpPr>
        <p:spPr>
          <a:xfrm>
            <a:off x="4687200" y="2102400"/>
            <a:ext cx="2944800" cy="662040"/>
          </a:xfrm>
          <a:prstGeom prst="rect">
            <a:avLst/>
          </a:prstGeom>
          <a:solidFill>
            <a:srgbClr val="fff4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회피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복귀 경로와 동적 객체 누락 시 정지 판단 불안정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09" name=""/>
          <p:cNvSpPr/>
          <p:nvPr/>
        </p:nvSpPr>
        <p:spPr>
          <a:xfrm>
            <a:off x="4600800" y="2664000"/>
            <a:ext cx="3038400" cy="9360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10" name=""/>
          <p:cNvSpPr txBox="1"/>
          <p:nvPr/>
        </p:nvSpPr>
        <p:spPr>
          <a:xfrm>
            <a:off x="4600800" y="2786400"/>
            <a:ext cx="100800" cy="276120"/>
          </a:xfrm>
          <a:prstGeom prst="rect">
            <a:avLst/>
          </a:prstGeom>
          <a:solidFill>
            <a:srgbClr val="fff4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d94b43"/>
                </a:solidFill>
                <a:latin typeface="Noto Sans CJK KR"/>
              </a:rPr>
              <a:t>→</a:t>
            </a:r>
            <a:endParaRPr b="1" lang="en-US" sz="1500" spc="-1" strike="noStrike">
              <a:solidFill>
                <a:srgbClr val="d94b43"/>
              </a:solidFill>
              <a:latin typeface="Noto Sans CJK KR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716000" y="2757600"/>
            <a:ext cx="2923200" cy="543240"/>
          </a:xfrm>
          <a:prstGeom prst="rect">
            <a:avLst/>
          </a:prstGeom>
          <a:solidFill>
            <a:srgbClr val="fff4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회피 방향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복귀 경로 튜닝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+ predicted path·stop latch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12" name=""/>
          <p:cNvSpPr/>
          <p:nvPr/>
        </p:nvSpPr>
        <p:spPr>
          <a:xfrm>
            <a:off x="8352000" y="1620000"/>
            <a:ext cx="3312000" cy="2196000"/>
          </a:xfrm>
          <a:prstGeom prst="roundRect">
            <a:avLst/>
          </a:prstGeom>
          <a:solidFill>
            <a:srgbClr val="f7f3fc"/>
          </a:solidFill>
          <a:ln w="19800">
            <a:solidFill>
              <a:srgbClr val="7951b3"/>
            </a:solidFill>
            <a:round/>
          </a:ln>
        </p:spPr>
      </p:sp>
      <p:sp>
        <p:nvSpPr>
          <p:cNvPr id="113" name=""/>
          <p:cNvSpPr/>
          <p:nvPr/>
        </p:nvSpPr>
        <p:spPr>
          <a:xfrm>
            <a:off x="8258400" y="1620000"/>
            <a:ext cx="75600" cy="2196000"/>
          </a:xfrm>
          <a:prstGeom prst="rect">
            <a:avLst/>
          </a:prstGeom>
          <a:solidFill>
            <a:srgbClr val="7951b3"/>
          </a:solidFill>
          <a:ln w="0">
            <a:noFill/>
          </a:ln>
        </p:spPr>
      </p:sp>
      <p:sp>
        <p:nvSpPr>
          <p:cNvPr id="114" name=""/>
          <p:cNvSpPr txBox="1"/>
          <p:nvPr/>
        </p:nvSpPr>
        <p:spPr>
          <a:xfrm>
            <a:off x="8460000" y="1717200"/>
            <a:ext cx="30960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7951b3"/>
                </a:solidFill>
                <a:latin typeface="Noto Sans CJK KR"/>
              </a:rPr>
              <a:t>MORAI </a:t>
            </a:r>
            <a:r>
              <a:rPr b="1" lang="zh-CN" sz="1650" spc="-1" strike="noStrike">
                <a:solidFill>
                  <a:srgbClr val="7951b3"/>
                </a:solidFill>
                <a:latin typeface="Noto Sans CJK KR"/>
              </a:rPr>
              <a:t>검증 자동화</a:t>
            </a:r>
            <a:endParaRPr b="1" lang="en-US" sz="1650" spc="-1" strike="noStrike">
              <a:solidFill>
                <a:srgbClr val="7951b3"/>
              </a:solidFill>
              <a:latin typeface="Noto Sans CJK KR"/>
            </a:endParaRPr>
          </a:p>
        </p:txBody>
      </p:sp>
      <p:sp>
        <p:nvSpPr>
          <p:cNvPr id="115" name=""/>
          <p:cNvSpPr/>
          <p:nvPr/>
        </p:nvSpPr>
        <p:spPr>
          <a:xfrm>
            <a:off x="8503200" y="2163600"/>
            <a:ext cx="36000" cy="36000"/>
          </a:xfrm>
          <a:prstGeom prst="ellipse">
            <a:avLst/>
          </a:prstGeom>
          <a:solidFill>
            <a:srgbClr val="7951b3"/>
          </a:solidFill>
          <a:ln w="0">
            <a:noFill/>
          </a:ln>
        </p:spPr>
      </p:sp>
      <p:sp>
        <p:nvSpPr>
          <p:cNvPr id="116" name=""/>
          <p:cNvSpPr txBox="1"/>
          <p:nvPr/>
        </p:nvSpPr>
        <p:spPr>
          <a:xfrm>
            <a:off x="8575200" y="2102400"/>
            <a:ext cx="2944800" cy="66204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ScenarioLoad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후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ROS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연결 해제로 무인 배치 검증 제한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17" name=""/>
          <p:cNvSpPr/>
          <p:nvPr/>
        </p:nvSpPr>
        <p:spPr>
          <a:xfrm>
            <a:off x="8488800" y="2664000"/>
            <a:ext cx="3038400" cy="9360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18" name=""/>
          <p:cNvSpPr txBox="1"/>
          <p:nvPr/>
        </p:nvSpPr>
        <p:spPr>
          <a:xfrm>
            <a:off x="8488800" y="2786400"/>
            <a:ext cx="100800" cy="27612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7951b3"/>
                </a:solidFill>
                <a:latin typeface="Noto Sans CJK KR"/>
              </a:rPr>
              <a:t>→</a:t>
            </a:r>
            <a:endParaRPr b="1" lang="en-US" sz="1500" spc="-1" strike="noStrike">
              <a:solidFill>
                <a:srgbClr val="7951b3"/>
              </a:solidFill>
              <a:latin typeface="Noto Sans CJK KR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604000" y="2757600"/>
            <a:ext cx="2923200" cy="66204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대표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closed-loop + ROS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입력 재생 회귀 검증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1628000" y="6328800"/>
            <a:ext cx="162000" cy="166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00" spc="-1" strike="noStrike">
                <a:solidFill>
                  <a:srgbClr val="626b78"/>
                </a:solidFill>
                <a:latin typeface="Noto Sans CJK KR"/>
              </a:rPr>
              <a:t>2</a:t>
            </a:r>
            <a:endParaRPr b="0" lang="en-US" sz="900" spc="-1" strike="noStrike">
              <a:solidFill>
                <a:srgbClr val="626b78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1"/>
          <p:nvPr/>
        </p:nvSpPr>
        <p:spPr>
          <a:xfrm>
            <a:off x="486000" y="295200"/>
            <a:ext cx="3240000" cy="44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개발현황 리포트 </a:t>
            </a:r>
            <a:r>
              <a:rPr b="1" lang="en-US" sz="2400" spc="-1" strike="noStrike">
                <a:solidFill>
                  <a:srgbClr val="101010"/>
                </a:solidFill>
                <a:latin typeface="Noto Sans CJK KR"/>
              </a:rPr>
              <a:t>-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726000" y="295200"/>
            <a:ext cx="5400000" cy="34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400" spc="-1" strike="noStrike">
                <a:solidFill>
                  <a:srgbClr val="101010"/>
                </a:solidFill>
                <a:latin typeface="Noto Sans CJK KR"/>
              </a:rPr>
              <a:t>향후 개발 일정</a:t>
            </a:r>
            <a:endParaRPr b="1" lang="en-US" sz="24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86000" y="712800"/>
            <a:ext cx="648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246bfd"/>
                </a:solidFill>
                <a:latin typeface="Noto Sans CJK KR"/>
              </a:rPr>
              <a:t>3. </a:t>
            </a:r>
            <a:r>
              <a:rPr b="0" lang="zh-CN" sz="1400" spc="-1" strike="noStrike">
                <a:solidFill>
                  <a:srgbClr val="246bfd"/>
                </a:solidFill>
                <a:latin typeface="Noto Sans CJK KR"/>
              </a:rPr>
              <a:t>향후 개발 일정</a:t>
            </a:r>
            <a:endParaRPr b="0" lang="en-US" sz="1400" spc="-1" strike="noStrike">
              <a:solidFill>
                <a:srgbClr val="246bfd"/>
              </a:solidFill>
              <a:latin typeface="Noto Sans CJK KR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86000" y="1101600"/>
            <a:ext cx="432000" cy="276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01010"/>
                </a:solidFill>
                <a:latin typeface="Noto Sans CJK KR"/>
              </a:rPr>
              <a:t>III.</a:t>
            </a:r>
            <a:endParaRPr b="1" lang="en-US" sz="15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332000" y="352800"/>
            <a:ext cx="738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101010"/>
                </a:solidFill>
                <a:latin typeface="Noto Sans CJK KR"/>
              </a:rPr>
              <a:t>MOR</a:t>
            </a:r>
            <a:endParaRPr b="1" lang="en-US" sz="20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034000" y="352800"/>
            <a:ext cx="504000" cy="36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000" spc="-1" strike="noStrike">
                <a:solidFill>
                  <a:srgbClr val="4c7eff"/>
                </a:solidFill>
                <a:latin typeface="Noto Sans CJK KR"/>
              </a:rPr>
              <a:t>AI</a:t>
            </a:r>
            <a:endParaRPr b="1" lang="en-US" sz="2000" spc="-1" strike="noStrike">
              <a:solidFill>
                <a:srgbClr val="4c7eff"/>
              </a:solidFill>
              <a:latin typeface="Noto Sans CJK KR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82000" y="1065600"/>
            <a:ext cx="3960000" cy="33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700" spc="-1" strike="noStrike">
                <a:solidFill>
                  <a:srgbClr val="101010"/>
                </a:solidFill>
                <a:latin typeface="Noto Sans CJK KR"/>
              </a:rPr>
              <a:t>안정화 → 통합 검증 → 릴리스</a:t>
            </a:r>
            <a:endParaRPr b="1" lang="en-US" sz="170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28" name=""/>
          <p:cNvSpPr/>
          <p:nvPr/>
        </p:nvSpPr>
        <p:spPr>
          <a:xfrm>
            <a:off x="576000" y="1692000"/>
            <a:ext cx="3312000" cy="1872000"/>
          </a:xfrm>
          <a:prstGeom prst="roundRect">
            <a:avLst/>
          </a:prstGeom>
          <a:solidFill>
            <a:srgbClr val="f1f7fc"/>
          </a:solidFill>
          <a:ln w="19800">
            <a:solidFill>
              <a:srgbClr val="1879bd"/>
            </a:solidFill>
            <a:round/>
          </a:ln>
        </p:spPr>
      </p:sp>
      <p:sp>
        <p:nvSpPr>
          <p:cNvPr id="129" name=""/>
          <p:cNvSpPr/>
          <p:nvPr/>
        </p:nvSpPr>
        <p:spPr>
          <a:xfrm>
            <a:off x="720000" y="1803600"/>
            <a:ext cx="259200" cy="259200"/>
          </a:xfrm>
          <a:prstGeom prst="ellipse">
            <a:avLst/>
          </a:prstGeom>
          <a:solidFill>
            <a:srgbClr val="1879bd"/>
          </a:solidFill>
          <a:ln w="0">
            <a:noFill/>
          </a:ln>
        </p:spPr>
      </p:sp>
      <p:sp>
        <p:nvSpPr>
          <p:cNvPr id="130" name=""/>
          <p:cNvSpPr txBox="1"/>
          <p:nvPr/>
        </p:nvSpPr>
        <p:spPr>
          <a:xfrm>
            <a:off x="747000" y="1864800"/>
            <a:ext cx="205200" cy="192600"/>
          </a:xfrm>
          <a:prstGeom prst="rect">
            <a:avLst/>
          </a:prstGeom>
          <a:solidFill>
            <a:srgbClr val="1879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Noto Sans CJK KR"/>
              </a:rPr>
              <a:t>01</a:t>
            </a:r>
            <a:endParaRPr b="1" lang="en-US" sz="105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044000" y="1816200"/>
            <a:ext cx="27360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879bd"/>
                </a:solidFill>
                <a:latin typeface="Noto Sans CJK KR"/>
              </a:rPr>
              <a:t>9</a:t>
            </a:r>
            <a:r>
              <a:rPr b="1" lang="zh-CN" sz="1300" spc="-1" strike="noStrike">
                <a:solidFill>
                  <a:srgbClr val="1879bd"/>
                </a:solidFill>
                <a:latin typeface="Noto Sans CJK KR"/>
              </a:rPr>
              <a:t>월 </a:t>
            </a:r>
            <a:r>
              <a:rPr b="1" lang="en-US" sz="1300" spc="-1" strike="noStrike">
                <a:solidFill>
                  <a:srgbClr val="1879bd"/>
                </a:solidFill>
                <a:latin typeface="Noto Sans CJK KR"/>
              </a:rPr>
              <a:t>1–2</a:t>
            </a:r>
            <a:r>
              <a:rPr b="1" lang="zh-CN" sz="1300" spc="-1" strike="noStrike">
                <a:solidFill>
                  <a:srgbClr val="1879bd"/>
                </a:solidFill>
                <a:latin typeface="Noto Sans CJK KR"/>
              </a:rPr>
              <a:t>주</a:t>
            </a:r>
            <a:endParaRPr b="1" lang="en-US" sz="1300" spc="-1" strike="noStrike">
              <a:solidFill>
                <a:srgbClr val="1879bd"/>
              </a:solidFill>
              <a:latin typeface="Noto Sans CJK KR"/>
            </a:endParaRPr>
          </a:p>
        </p:txBody>
      </p:sp>
      <p:sp>
        <p:nvSpPr>
          <p:cNvPr id="132" name=""/>
          <p:cNvSpPr/>
          <p:nvPr/>
        </p:nvSpPr>
        <p:spPr>
          <a:xfrm>
            <a:off x="748800" y="2210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33" name=""/>
          <p:cNvSpPr txBox="1"/>
          <p:nvPr/>
        </p:nvSpPr>
        <p:spPr>
          <a:xfrm>
            <a:off x="817200" y="2145600"/>
            <a:ext cx="29268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BPP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회피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복귀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corner case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보완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34" name=""/>
          <p:cNvSpPr/>
          <p:nvPr/>
        </p:nvSpPr>
        <p:spPr>
          <a:xfrm>
            <a:off x="748800" y="2462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817200" y="2397600"/>
            <a:ext cx="29268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BVP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신호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정지선 판단 재검증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36" name=""/>
          <p:cNvSpPr/>
          <p:nvPr/>
        </p:nvSpPr>
        <p:spPr>
          <a:xfrm>
            <a:off x="748800" y="2714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37" name=""/>
          <p:cNvSpPr txBox="1"/>
          <p:nvPr/>
        </p:nvSpPr>
        <p:spPr>
          <a:xfrm>
            <a:off x="817200" y="2649600"/>
            <a:ext cx="2926800" cy="331200"/>
          </a:xfrm>
          <a:prstGeom prst="rect">
            <a:avLst/>
          </a:prstGeom>
          <a:solidFill>
            <a:srgbClr val="f1f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MVP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동적 정지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재출발 안정화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38" name=""/>
          <p:cNvSpPr/>
          <p:nvPr/>
        </p:nvSpPr>
        <p:spPr>
          <a:xfrm>
            <a:off x="4464000" y="1692000"/>
            <a:ext cx="3312000" cy="1872000"/>
          </a:xfrm>
          <a:prstGeom prst="roundRect">
            <a:avLst/>
          </a:prstGeom>
          <a:solidFill>
            <a:srgbClr val="f2faf6"/>
          </a:solidFill>
          <a:ln w="19800">
            <a:solidFill>
              <a:srgbClr val="15955c"/>
            </a:solidFill>
            <a:round/>
          </a:ln>
        </p:spPr>
      </p:sp>
      <p:sp>
        <p:nvSpPr>
          <p:cNvPr id="139" name=""/>
          <p:cNvSpPr/>
          <p:nvPr/>
        </p:nvSpPr>
        <p:spPr>
          <a:xfrm>
            <a:off x="4608000" y="1803600"/>
            <a:ext cx="259200" cy="259200"/>
          </a:xfrm>
          <a:prstGeom prst="ellipse">
            <a:avLst/>
          </a:prstGeom>
          <a:solidFill>
            <a:srgbClr val="15955c"/>
          </a:solidFill>
          <a:ln w="0">
            <a:noFill/>
          </a:ln>
        </p:spPr>
      </p:sp>
      <p:sp>
        <p:nvSpPr>
          <p:cNvPr id="140" name=""/>
          <p:cNvSpPr txBox="1"/>
          <p:nvPr/>
        </p:nvSpPr>
        <p:spPr>
          <a:xfrm>
            <a:off x="4635000" y="1864800"/>
            <a:ext cx="205200" cy="192600"/>
          </a:xfrm>
          <a:prstGeom prst="rect">
            <a:avLst/>
          </a:prstGeom>
          <a:solidFill>
            <a:srgbClr val="1595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Noto Sans CJK KR"/>
              </a:rPr>
              <a:t>02</a:t>
            </a:r>
            <a:endParaRPr b="1" lang="en-US" sz="105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932000" y="1816200"/>
            <a:ext cx="27360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5955c"/>
                </a:solidFill>
                <a:latin typeface="Noto Sans CJK KR"/>
              </a:rPr>
              <a:t>9</a:t>
            </a:r>
            <a:r>
              <a:rPr b="1" lang="zh-CN" sz="1300" spc="-1" strike="noStrike">
                <a:solidFill>
                  <a:srgbClr val="15955c"/>
                </a:solidFill>
                <a:latin typeface="Noto Sans CJK KR"/>
              </a:rPr>
              <a:t>월 </a:t>
            </a:r>
            <a:r>
              <a:rPr b="1" lang="en-US" sz="1300" spc="-1" strike="noStrike">
                <a:solidFill>
                  <a:srgbClr val="15955c"/>
                </a:solidFill>
                <a:latin typeface="Noto Sans CJK KR"/>
              </a:rPr>
              <a:t>3–4</a:t>
            </a:r>
            <a:r>
              <a:rPr b="1" lang="zh-CN" sz="1300" spc="-1" strike="noStrike">
                <a:solidFill>
                  <a:srgbClr val="15955c"/>
                </a:solidFill>
                <a:latin typeface="Noto Sans CJK KR"/>
              </a:rPr>
              <a:t>주</a:t>
            </a:r>
            <a:endParaRPr b="1" lang="en-US" sz="1300" spc="-1" strike="noStrike">
              <a:solidFill>
                <a:srgbClr val="15955c"/>
              </a:solidFill>
              <a:latin typeface="Noto Sans CJK KR"/>
            </a:endParaRPr>
          </a:p>
        </p:txBody>
      </p:sp>
      <p:sp>
        <p:nvSpPr>
          <p:cNvPr id="142" name=""/>
          <p:cNvSpPr/>
          <p:nvPr/>
        </p:nvSpPr>
        <p:spPr>
          <a:xfrm>
            <a:off x="4636800" y="2210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43" name=""/>
          <p:cNvSpPr txBox="1"/>
          <p:nvPr/>
        </p:nvSpPr>
        <p:spPr>
          <a:xfrm>
            <a:off x="4705200" y="2145600"/>
            <a:ext cx="2926800" cy="66204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보행자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·NPC·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바리케이트 시나리오 확대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44" name=""/>
          <p:cNvSpPr/>
          <p:nvPr/>
        </p:nvSpPr>
        <p:spPr>
          <a:xfrm>
            <a:off x="4636800" y="2462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45" name=""/>
          <p:cNvSpPr txBox="1"/>
          <p:nvPr/>
        </p:nvSpPr>
        <p:spPr>
          <a:xfrm>
            <a:off x="4705200" y="2397600"/>
            <a:ext cx="29268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MORAI closed-loop·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제어기 연동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46" name=""/>
          <p:cNvSpPr/>
          <p:nvPr/>
        </p:nvSpPr>
        <p:spPr>
          <a:xfrm>
            <a:off x="4636800" y="2714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47" name=""/>
          <p:cNvSpPr txBox="1"/>
          <p:nvPr/>
        </p:nvSpPr>
        <p:spPr>
          <a:xfrm>
            <a:off x="4705200" y="2649600"/>
            <a:ext cx="2926800" cy="331200"/>
          </a:xfrm>
          <a:prstGeom prst="rect">
            <a:avLst/>
          </a:prstGeom>
          <a:solidFill>
            <a:srgbClr val="f2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실패 케이스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bag·KPI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축적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48" name=""/>
          <p:cNvSpPr/>
          <p:nvPr/>
        </p:nvSpPr>
        <p:spPr>
          <a:xfrm>
            <a:off x="8352000" y="1692000"/>
            <a:ext cx="3312000" cy="1872000"/>
          </a:xfrm>
          <a:prstGeom prst="roundRect">
            <a:avLst/>
          </a:prstGeom>
          <a:solidFill>
            <a:srgbClr val="f7f3fc"/>
          </a:solidFill>
          <a:ln w="19800">
            <a:solidFill>
              <a:srgbClr val="7951b3"/>
            </a:solidFill>
            <a:round/>
          </a:ln>
        </p:spPr>
      </p:sp>
      <p:sp>
        <p:nvSpPr>
          <p:cNvPr id="149" name=""/>
          <p:cNvSpPr/>
          <p:nvPr/>
        </p:nvSpPr>
        <p:spPr>
          <a:xfrm>
            <a:off x="8496000" y="1803600"/>
            <a:ext cx="259200" cy="259200"/>
          </a:xfrm>
          <a:prstGeom prst="ellipse">
            <a:avLst/>
          </a:prstGeom>
          <a:solidFill>
            <a:srgbClr val="7951b3"/>
          </a:solidFill>
          <a:ln w="0">
            <a:noFill/>
          </a:ln>
        </p:spPr>
      </p:sp>
      <p:sp>
        <p:nvSpPr>
          <p:cNvPr id="150" name=""/>
          <p:cNvSpPr txBox="1"/>
          <p:nvPr/>
        </p:nvSpPr>
        <p:spPr>
          <a:xfrm>
            <a:off x="8523000" y="1864800"/>
            <a:ext cx="205200" cy="192600"/>
          </a:xfrm>
          <a:prstGeom prst="rect">
            <a:avLst/>
          </a:prstGeom>
          <a:solidFill>
            <a:srgbClr val="7951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Noto Sans CJK KR"/>
              </a:rPr>
              <a:t>03</a:t>
            </a:r>
            <a:endParaRPr b="1" lang="en-US" sz="105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820000" y="1816200"/>
            <a:ext cx="27360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7951b3"/>
                </a:solidFill>
                <a:latin typeface="Noto Sans CJK KR"/>
              </a:rPr>
              <a:t>10</a:t>
            </a:r>
            <a:r>
              <a:rPr b="1" lang="zh-CN" sz="1300" spc="-1" strike="noStrike">
                <a:solidFill>
                  <a:srgbClr val="7951b3"/>
                </a:solidFill>
                <a:latin typeface="Noto Sans CJK KR"/>
              </a:rPr>
              <a:t>월 </a:t>
            </a:r>
            <a:r>
              <a:rPr b="1" lang="en-US" sz="1300" spc="-1" strike="noStrike">
                <a:solidFill>
                  <a:srgbClr val="7951b3"/>
                </a:solidFill>
                <a:latin typeface="Noto Sans CJK KR"/>
              </a:rPr>
              <a:t>1</a:t>
            </a:r>
            <a:r>
              <a:rPr b="1" lang="zh-CN" sz="1300" spc="-1" strike="noStrike">
                <a:solidFill>
                  <a:srgbClr val="7951b3"/>
                </a:solidFill>
                <a:latin typeface="Noto Sans CJK KR"/>
              </a:rPr>
              <a:t>주</a:t>
            </a:r>
            <a:endParaRPr b="1" lang="en-US" sz="1300" spc="-1" strike="noStrike">
              <a:solidFill>
                <a:srgbClr val="7951b3"/>
              </a:solidFill>
              <a:latin typeface="Noto Sans CJK KR"/>
            </a:endParaRPr>
          </a:p>
        </p:txBody>
      </p:sp>
      <p:sp>
        <p:nvSpPr>
          <p:cNvPr id="152" name=""/>
          <p:cNvSpPr/>
          <p:nvPr/>
        </p:nvSpPr>
        <p:spPr>
          <a:xfrm>
            <a:off x="8524800" y="2210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53" name=""/>
          <p:cNvSpPr txBox="1"/>
          <p:nvPr/>
        </p:nvSpPr>
        <p:spPr>
          <a:xfrm>
            <a:off x="8593200" y="2145600"/>
            <a:ext cx="29268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Open-loop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회귀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gate·parameter sweep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54" name=""/>
          <p:cNvSpPr/>
          <p:nvPr/>
        </p:nvSpPr>
        <p:spPr>
          <a:xfrm>
            <a:off x="8524800" y="2462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55" name=""/>
          <p:cNvSpPr txBox="1"/>
          <p:nvPr/>
        </p:nvSpPr>
        <p:spPr>
          <a:xfrm>
            <a:off x="8593200" y="2397600"/>
            <a:ext cx="29268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성공 시나리오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baseline </a:t>
            </a:r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승격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56" name=""/>
          <p:cNvSpPr/>
          <p:nvPr/>
        </p:nvSpPr>
        <p:spPr>
          <a:xfrm>
            <a:off x="8524800" y="2714400"/>
            <a:ext cx="32400" cy="32400"/>
          </a:xfrm>
          <a:prstGeom prst="ellipse">
            <a:avLst/>
          </a:prstGeom>
          <a:solidFill>
            <a:srgbClr val="101010"/>
          </a:solidFill>
          <a:ln w="0">
            <a:noFill/>
          </a:ln>
        </p:spPr>
      </p:sp>
      <p:sp>
        <p:nvSpPr>
          <p:cNvPr id="157" name=""/>
          <p:cNvSpPr txBox="1"/>
          <p:nvPr/>
        </p:nvSpPr>
        <p:spPr>
          <a:xfrm>
            <a:off x="8593200" y="2649600"/>
            <a:ext cx="2926800" cy="331200"/>
          </a:xfrm>
          <a:prstGeom prst="rect">
            <a:avLst/>
          </a:prstGeom>
          <a:solidFill>
            <a:srgbClr val="f7f3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50" spc="-1" strike="noStrike">
                <a:solidFill>
                  <a:srgbClr val="101010"/>
                </a:solidFill>
                <a:latin typeface="Noto Sans CJK KR"/>
              </a:rPr>
              <a:t>대회 주행 파라미터 </a:t>
            </a:r>
            <a:r>
              <a:rPr b="0" lang="en-US" sz="1150" spc="-1" strike="noStrike">
                <a:solidFill>
                  <a:srgbClr val="101010"/>
                </a:solidFill>
                <a:latin typeface="Noto Sans CJK KR"/>
              </a:rPr>
              <a:t>freeze</a:t>
            </a:r>
            <a:endParaRPr b="0" lang="en-US" sz="1150" spc="-1" strike="noStrike">
              <a:solidFill>
                <a:srgbClr val="101010"/>
              </a:solidFill>
              <a:latin typeface="Noto Sans CJK KR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902400" y="2430000"/>
            <a:ext cx="450000" cy="535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900" spc="-1" strike="noStrike">
                <a:solidFill>
                  <a:srgbClr val="626b78"/>
                </a:solidFill>
                <a:latin typeface="Noto Sans CJK KR"/>
              </a:rPr>
              <a:t>→</a:t>
            </a:r>
            <a:endParaRPr b="1" lang="en-US" sz="290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790400" y="2430000"/>
            <a:ext cx="450000" cy="535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900" spc="-1" strike="noStrike">
                <a:solidFill>
                  <a:srgbClr val="626b78"/>
                </a:solidFill>
                <a:latin typeface="Noto Sans CJK KR"/>
              </a:rPr>
              <a:t>→</a:t>
            </a:r>
            <a:endParaRPr b="1" lang="en-US" sz="2900" spc="-1" strike="noStrike">
              <a:solidFill>
                <a:srgbClr val="626b78"/>
              </a:solidFill>
              <a:latin typeface="Noto Sans CJK KR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628000" y="6328800"/>
            <a:ext cx="162000" cy="166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00" spc="-1" strike="noStrike">
                <a:solidFill>
                  <a:srgbClr val="626b78"/>
                </a:solidFill>
                <a:latin typeface="Noto Sans CJK KR"/>
              </a:rPr>
              <a:t>3</a:t>
            </a:r>
            <a:endParaRPr b="0" lang="en-US" sz="900" spc="-1" strike="noStrike">
              <a:solidFill>
                <a:srgbClr val="626b78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2026-09-04T01:12:09Z</dcterms:created>
  <dc:creator/>
  <dc:description/>
  <dc:language>en-US</dc:language>
  <cp:lastModifiedBy/>
  <dcterms:modified xsi:type="dcterms:W3CDTF">2026-09-04T01:12:10Z</dcterms:modified>
  <cp:revision>1</cp:revision>
  <dc:subject/>
  <dc:title/>
</cp:coreProperties>
</file>